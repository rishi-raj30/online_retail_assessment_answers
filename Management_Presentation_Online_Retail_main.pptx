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FD4C4A-83AF-40DC-85DF-E63ADC06F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F247A-DD8C-46AF-AE06-45DB62E4BB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EEB294-DB6F-4634-B1E1-8122771781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F92841-C5D5-4E90-9573-1E985F6137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30672C1-0AF9-4CFD-846A-0EB3A54495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252D358-F554-4C4F-99CC-88B1AE26ED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A82FF5B-74CF-4893-BF5F-974D4DD99C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CF36437-F93B-4E10-ACB2-EFD11F30BB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B773494-53EF-4D14-9B1E-43C7364146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AECD0CF-1A42-4C7F-A201-A75A2473D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DE193E0-93C0-4F19-8DC9-FFB4FB82D1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06C4B6-ACC8-42C3-8D4F-FC5BD4CB86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018FA6-9B59-46A9-BE92-4ECE641E97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BB2149-628F-47C5-B08D-00BBB9EB99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BDDC22-32BE-4FAC-9337-1E112CCD87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51EFB8-AE7E-4057-872C-E4D21D6931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34D728-A361-4929-BEF9-E24273274E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AC36C3-47AA-4764-B5A5-B72AEDD2FA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7CDBE2-9F27-4F3B-8E8F-683CBF5F4B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92BC41-8104-42CF-8FEB-6E7D57F162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E95D99-E339-4288-8D18-97C087BD28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13112A-97DB-4F51-942B-2555E47FE5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"/>
          <p:cNvSpPr/>
          <p:nvPr/>
        </p:nvSpPr>
        <p:spPr>
          <a:xfrm>
            <a:off x="2041920" y="457200"/>
            <a:ext cx="8168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Unlocking Revenue &amp; Customer Growth Opportunities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822960" y="1371600"/>
            <a:ext cx="105152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Business objective: identify the customer, product, geographic and time-based drivers of revenue.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Dataset: UCI Online Retail transaction data.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Management focus: retention, product prioritization, seasonal planning and market opportunities.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2"/>
          <p:cNvSpPr/>
          <p:nvPr/>
        </p:nvSpPr>
        <p:spPr>
          <a:xfrm>
            <a:off x="4491000" y="457200"/>
            <a:ext cx="3270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Data &amp; Methodology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1371600"/>
            <a:ext cx="10515240" cy="23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541,909 raw transaction rows and 8 fields.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Period: 1 Dec 2010 to 9 Dec 2011.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Cleaning: removed 5,268 exact duplicates; excluded cancellations/non-positive sales from positive-sales KPIs; handled missing Customer ID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for customer-level analysis.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Feature engineering: Revenue = Quantity × UnitPrice; YearMonth; OrderValue.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Analysis: customer, product, country and monthly aggregation.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2"/>
          <p:cNvSpPr/>
          <p:nvPr/>
        </p:nvSpPr>
        <p:spPr>
          <a:xfrm>
            <a:off x="5121360" y="457200"/>
            <a:ext cx="2009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Key Findings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822960" y="1371600"/>
            <a:ext cx="10515240" cy="16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Repeat customers: 65.6% of identified customers but 93.1% of valid sales revenue.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UK generated £7.29M, representing 82.0% of valid sales revenue.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November 2011 was the strongest full month at £1.16M; September rose 47.6% versus August.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Top 10 identifiable products generated about 9.8% of valid revenue.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"/>
          <p:cNvSpPr/>
          <p:nvPr/>
        </p:nvSpPr>
        <p:spPr>
          <a:xfrm>
            <a:off x="3568320" y="457200"/>
            <a:ext cx="511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Deep Dive — Customer Retention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1371600"/>
            <a:ext cx="10515240" cy="20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2,845 repeat customers generated £8.27M of valid sales revenue.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Average revenue per repeat customer: about £2,908.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Average revenue per one-time customer: about £411.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Repeat customers therefore generated about 7.1× more revenue per customer.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Implication: retention and repeat-purchase programs are a high-priority revenue lever.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2"/>
          <p:cNvSpPr/>
          <p:nvPr/>
        </p:nvSpPr>
        <p:spPr>
          <a:xfrm>
            <a:off x="4660200" y="457200"/>
            <a:ext cx="2931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Recommendations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822960" y="1371600"/>
            <a:ext cx="10515240" cy="14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Protect and grow high-value/repeat customers through tiered CRM and retention programs.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Prepare inventory and campaigns ahead of high-demand periods, especially the late-year peak.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3. Defend the UK core market while selectively developing international markets with evidence of customer value.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2"/>
          <p:cNvSpPr/>
          <p:nvPr/>
        </p:nvSpPr>
        <p:spPr>
          <a:xfrm>
            <a:off x="2773440" y="457200"/>
            <a:ext cx="6705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Expected Business Impact &amp; Success Metrics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1371600"/>
            <a:ext cx="105152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Retention: improve repeat purchase rate, repeat revenue share and revenue/customer.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Seasonality: improve stock availability, order fulfillment and monthly revenue during peak periods.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Market expansion: increase international revenue and revenue/customer without weakening the core UK base.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2"/>
          <p:cNvSpPr/>
          <p:nvPr/>
        </p:nvSpPr>
        <p:spPr>
          <a:xfrm>
            <a:off x="4226760" y="457200"/>
            <a:ext cx="3799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Limitations &amp; Next Steps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822960" y="1371600"/>
            <a:ext cx="1051524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Historical data from 2010–2011 may not represent current behavior.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Missing Customer ID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values limit customer-level analysis.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 marketing spend, margin, inventory or acquisition-cost data; therefore causal conclusions are not supported.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Next: combine CRM, marketing, margin and inventory data; test recommendations over time.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2026-09-11T13:48:16Z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